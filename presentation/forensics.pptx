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C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8717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38BDF8"/>
                </a:solidFill>
              </a:rPr>
              <a:t>Hands-On Forensics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Практичний підхід до CTF у сфері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E2E8F0"/>
                </a:solidFill>
              </a:rPr>
              <a:t>цифрової форензики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Черепов О.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Кафедра ТЕІБ, Ужгородський національний університет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План доповіді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●"/>
            </a:pPr>
            <a:r>
              <a:rPr lang="en-US" sz="1500" b="1" dirty="0">
                <a:solidFill>
                  <a:srgbClr val="E2E8F0"/>
                </a:solidFill>
              </a:rPr>
              <a:t>Огляд: </a:t>
            </a:r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цифрова форензика у CTF
</a:t>
            </a:r>
            <a:pPr indent="0" marL="0">
              <a:lnSpc>
                <a:spcPct val="180000"/>
              </a:lnSpc>
              <a:buNone/>
            </a:pPr>
            <a:r>
              <a:rPr lang="en-US" sz="1500" b="1" dirty="0">
                <a:solidFill>
                  <a:srgbClr val="E2E8F0"/>
                </a:solidFill>
              </a:rPr>
              <a:t>Диск: </a:t>
            </a:r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Autopsy, Sleuth Kit, карвінг
</a:t>
            </a:r>
            <a:pPr indent="0" marL="0">
              <a:lnSpc>
                <a:spcPct val="180000"/>
              </a:lnSpc>
              <a:buNone/>
            </a:pPr>
            <a:r>
              <a:rPr lang="en-US" sz="1500" b="1" dirty="0">
                <a:solidFill>
                  <a:srgbClr val="E2E8F0"/>
                </a:solidFill>
              </a:rPr>
              <a:t>Пам'ять: </a:t>
            </a:r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Volatility та аналіз RAM
</a:t>
            </a:r>
            <a:pPr indent="0" marL="0">
              <a:lnSpc>
                <a:spcPct val="180000"/>
              </a:lnSpc>
              <a:buNone/>
            </a:pPr>
            <a:r>
              <a:rPr lang="en-US" sz="1500" b="1" dirty="0">
                <a:solidFill>
                  <a:srgbClr val="E2E8F0"/>
                </a:solidFill>
              </a:rPr>
              <a:t>Мережа: </a:t>
            </a:r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Wireshark, tshark, Zeek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217920" y="11887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●"/>
            </a:pPr>
            <a:r>
              <a:rPr lang="en-US" sz="1500" b="1" dirty="0">
                <a:solidFill>
                  <a:srgbClr val="E2E8F0"/>
                </a:solidFill>
              </a:rPr>
              <a:t>Стеганографія: </a:t>
            </a:r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приховані дані
</a:t>
            </a:r>
            <a:pPr indent="0" marL="0">
              <a:lnSpc>
                <a:spcPct val="180000"/>
              </a:lnSpc>
              <a:buNone/>
            </a:pPr>
            <a:r>
              <a:rPr lang="en-US" sz="1500" b="1" dirty="0">
                <a:solidFill>
                  <a:srgbClr val="E2E8F0"/>
                </a:solidFill>
              </a:rPr>
              <a:t>Логи та таймлайн: </a:t>
            </a:r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EVTX, Plaso
</a:t>
            </a:r>
            <a:pPr indent="0" marL="0">
              <a:lnSpc>
                <a:spcPct val="180000"/>
              </a:lnSpc>
              <a:buNone/>
            </a:pPr>
            <a:r>
              <a:rPr lang="en-US" sz="1500" b="1" dirty="0">
                <a:solidFill>
                  <a:srgbClr val="E2E8F0"/>
                </a:solidFill>
              </a:rPr>
              <a:t>Методологія: </a:t>
            </a:r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системний підхід
</a:t>
            </a:r>
            <a:pPr indent="0" marL="0">
              <a:lnSpc>
                <a:spcPct val="180000"/>
              </a:lnSpc>
              <a:buNone/>
            </a:pPr>
            <a:r>
              <a:rPr lang="en-US" sz="1500" b="1" dirty="0">
                <a:solidFill>
                  <a:srgbClr val="E2E8F0"/>
                </a:solidFill>
              </a:rPr>
              <a:t>Практика: </a:t>
            </a:r>
            <a:pPr indent="0" marL="0">
              <a:lnSpc>
                <a:spcPct val="1800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платформи та ресурси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🔍  Огляд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Цифрова форензика у CTF-змаганнях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Форензика у CTF: що це?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85%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CTF містять форензику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097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DE80"/>
                </a:solidFill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2900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Основних категорій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200+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21792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Інструментів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097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</a:rPr>
              <a:t>Jeopardy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0068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Найпоширеніший формат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37744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Типи завдань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292608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Аналіз файлів — формати, метадані, вбудовані об'єкти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Аналіз дисків — образи, видалені файли, файлові системи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Аналіз пам'яті — дампи RAM, процеси, ін'єкції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Мережева форензика — PCAP, потоки, протоколи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Стеганографія — приховані дані в медіафайлах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Аналіз логів — EVTX, syslog, таймлайни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237744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Чому форензика важлива?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292608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Прямий зв'язок із реальними розслідуваннями (DFIR)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Розвиває аналітичне мислення та увагу до деталей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Кросдисциплінарність: мережі + ОС + криптографія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Затребуваність на ринку: DFIR-аналітик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🧰  Інструменти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Арсенал форензика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Аналіз дисків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Autopsy / Sleuth Kit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Повнофункціональна платформа аналізу образів дисків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mmls disk.img              # таблиця розділів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fls -r -o 2048 disk.img    # список файлів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icat -o 2048 disk.img 65   # витягти файл за inode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blkcat disk.img 1024       # вміст блоку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Підтримка: NTFS, FAT, EXT, HFS+, APFS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Autopsy — GUI з таймлайном та пошуком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00584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Карвінг файлів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Відновлення файлів без метаданих файлової системи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19202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foremost -t all -i disk.img -o output/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scalpel -c scalpel.conf -o out/ disk.img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binwalk -e firmware.bin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33832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photorec — відновлення медіафайлів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bulk_extractor — паралельний аналіз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testdisk — відновлення розділів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Аналіз пам'яті (RAM)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Volatility 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Стандарт галузі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0" y="100584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0972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DE80"/>
                </a:solidFill>
              </a:rPr>
              <a:t>80+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Плагінів Windows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100584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0972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</a:rPr>
              <a:t>40+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38160" y="1600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Плагінів Linux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Ключові плагіни Volatility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8346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windows.info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windows.pslist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windows.pstree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windows.netscan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windows.cmdline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228600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Поглиблений аналіз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8346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windows.dlllist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windows.malfind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windows.registry.hivelist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windows.filescan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windows.hashdump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4754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hashdump — хеші паролів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handles — відкриті хендли процесів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Мережева форензика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</a:rPr>
              <a:t>Wireshark Display Filters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http.request.method == "POST"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contains "flag"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dns.qry.name contains "suspicious"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tcp.stream eq 5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tls.handshake.type ==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tshark (CLI)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tshark -r capture.pcap -Y "http"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tshark -r capture.pcap -T fields -e http.host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tshark -r capture.pcap --export-objects http,out/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005840"/>
          <a:ext cx="5394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Інструмент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Тип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Переваги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Wireshark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GUI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Глибокий аналіз пакетів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tshark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CLI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Автоматизація, фільтрація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NetworkMiner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GUI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Автоекстракція файлів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Zeek (Bro)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Framework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Журнали з'єднань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</a:rPr>
                        <a:t>Scapy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Python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Кастомний аналіз пакетів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393192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40233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CTF-порада: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завжди починайте з Statistics → Protocol Hierarchy у Wireshark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👁  Стеганографія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Приховане на видному місці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Інструменти стеганографії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Зображення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steghide — JPEG/BMP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steghide extract -sf image.jpg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zsteg — PNG/BMP (LSB)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zsteg image.png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zsteg -a image.png    # всі канали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stegsolve — візуальний аналіз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StegSolve.jar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Aperi'Solve — онлайн, 10+ інструментів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pngcheck — валідація PNG-чанків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exiftool — метадані EXIF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0058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Аудіо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5544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Sonic Visualiser — спектрограма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Audacity — Layer &gt; Spectrogram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DeepSound — приховування у WAV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sstv -d audio.wav -o output.png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46520" y="3017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Морзе — перевірити частоти CW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DTMF — декодування телефонних тонів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39319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Автоматизація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43891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Aperi'Solve — запускає exiftool, binwalk, zsteg, steghide, foremost одночасно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stegcracker — брутфорс паролів steghide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stegseek — швидший за stegcracker у 1000x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Аналіз файлів та Magic Bytes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5577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Формат</a:t>
                      </a:r>
                      <a:endParaRPr lang="en-US" sz="12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Magic Bytes (hex)</a:t>
                      </a:r>
                      <a:endParaRPr lang="en-US" sz="12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ASCII</a:t>
                      </a:r>
                      <a:endParaRPr lang="en-US" sz="12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PNG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89 50 4E 47 0D 0A 1A 0A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.PNG....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JPEG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FF D8 FF E0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----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PDF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 50 44 46 2D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%PDF-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ZIP/DOCX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 4B 03 04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PK..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GIF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47 49 46 38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GIF8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ELF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7F 45 4C 46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.ELF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RAR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 61 72 21 1A 07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Rar!..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PCAP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D4 C3 B2 A1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----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005840"/>
            <a:ext cx="5212080" cy="2560320"/>
          </a:xfrm>
          <a:prstGeom prst="roundRect">
            <a:avLst>
              <a:gd name="adj" fmla="val 4286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29400" y="1097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</a:rPr>
              <a:t>Перші команди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29400" y="14630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mystery_file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xxd mystery_file | head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exiftool mystery_file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 -n 8 mystery_file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 -e l mystery_file   # UTF-16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binwalk mystery_file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46520" y="374904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CyberChef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29400" y="42062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Веб-інструмент для трансформацій даних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Base64, XOR, ROT13, AES, Gunzip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"Magic" рецепт — автоматичне розпізнавання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Ланцюжки рецептів ("recipes")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📜  Логи та таймлайн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Відтворення хронології подій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Аналіз логів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5577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3291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Event ID</a:t>
                      </a:r>
                      <a:endParaRPr lang="en-US" sz="12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Джерело</a:t>
                      </a:r>
                      <a:endParaRPr lang="en-US" sz="12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Опис</a:t>
                      </a:r>
                      <a:endParaRPr lang="en-US" sz="12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4624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Security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Успішний вхід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4625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Security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Невдалий вхід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4688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Security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Створення процесу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4720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Security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Створення користувача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</a:rPr>
                        <a:t>Sysmon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Процес (детальне)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</a:rPr>
                        <a:t>Sysmon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Мережеве з'єднання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7045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System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Встановлення сервісу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7171"/>
                          </a:solidFill>
                        </a:rPr>
                        <a:t>1102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Security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</a:rPr>
                        <a:t>Очищення журналу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91440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2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29400" y="1005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Chainsaw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29400" y="1371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Швидкий пошук у EVTX за Sigma-правилами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629400" y="1737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chainsaw hunt ./evtx_logs/ -s sigma/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chainsaw search "mimikatz" -e ./logs/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46520" y="338328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3474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</a:rPr>
              <a:t>Linux-логи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29400" y="384048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/var/log/auth.log   # аутентифікація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/var/log/syslog     # системні події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/var/log/apache2/   # веб-сервер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~/.bash_history     # команди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-i "failed" auth.log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journalctl --since "2026-01-01"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Побудова таймлайну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87171"/>
                </a:solidFill>
              </a:rPr>
              <a:t>Збір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87171"/>
                </a:solidFill>
              </a:rPr>
              <a:t>джерел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09728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10972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BBF24"/>
                </a:solidFill>
              </a:rPr>
              <a:t>Парсинг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BBF24"/>
                </a:solidFill>
              </a:rPr>
              <a:t>log2timeline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BDF8"/>
                </a:solidFill>
              </a:rPr>
              <a:t>Фільтрація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BDF8"/>
                </a:solidFill>
              </a:rPr>
              <a:t>psort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109728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23760" y="10972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DE80"/>
                </a:solidFill>
              </a:rPr>
              <a:t>Візуалізація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DE80"/>
                </a:solidFill>
              </a:rPr>
              <a:t>Timesketch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0" y="109728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18320" y="10972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78BFA"/>
                </a:solidFill>
              </a:rPr>
              <a:t>Звіт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78BFA"/>
                </a:solidFill>
              </a:rPr>
              <a:t>Висновки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37744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Plaso / log2timeline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9260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Створення супертаймлайну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log2timeline.py timeline.plaso disk.img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Фільтрація та експорт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psort.py -o l2tcsv timeline.plaso \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-w timeline.csv \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"date &gt; '2026-01-15' AND date &lt; '2026-01-20'"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377440"/>
            <a:ext cx="5394960" cy="3474720"/>
          </a:xfrm>
          <a:prstGeom prst="roundRect">
            <a:avLst>
              <a:gd name="adj" fmla="val 3158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MFT-аналіз (NTFS)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29260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MFTECmd (Eric Zimmerman)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MFTECmd.exe -f '$MFT' --csv out/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analyzeMFT (Python)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analyzeMFT.py -f '$MFT' -o mft.csv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$STANDARD_INFORMATION vs $FILE_NAME timestamps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Timestomping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🧭  Методологія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Системний підхід до форензичних завдань CTF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Методологія розв'язання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2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87171"/>
                </a:solidFill>
              </a:rPr>
              <a:t>Identify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87171"/>
                </a:solidFill>
              </a:rPr>
              <a:t>Визначити тип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00584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BBF24"/>
                </a:solidFill>
              </a:rPr>
              <a:t>Extract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BBF24"/>
                </a:solidFill>
              </a:rPr>
              <a:t>Витягти дані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100584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BDF8"/>
                </a:solidFill>
              </a:rPr>
              <a:t>Analyze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8BDF8"/>
                </a:solidFill>
              </a:rPr>
              <a:t>Аналізувати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100584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23760" y="100584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78BFA"/>
                </a:solidFill>
              </a:rPr>
              <a:t>Decode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78BFA"/>
                </a:solidFill>
              </a:rPr>
              <a:t>Декодувати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0" y="100584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18320" y="100584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10515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DE80"/>
                </a:solidFill>
              </a:rPr>
              <a:t>Flag!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DE80"/>
                </a:solidFill>
              </a:rPr>
              <a:t>Отримати прапорець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1031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"Low-Hanging Fruit" — перевірте першими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6517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E2E8F0"/>
                </a:solidFill>
              </a:rPr>
              <a:t>file + strings + exiftool на кожен файл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E2E8F0"/>
                </a:solidFill>
              </a:rPr>
              <a:t>binwalk -e — вбудовані файли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E2E8F0"/>
                </a:solidFill>
              </a:rPr>
              <a:t>grep -r "flag\|CTF\|{" . — прямий пошук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E2E8F0"/>
                </a:solidFill>
              </a:rPr>
              <a:t>Перевірити кінець файлу (дані після EOF)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E2E8F0"/>
                </a:solidFill>
              </a:rPr>
              <a:t>Порівняти розмір файлу з очікуваним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E2E8F0"/>
                </a:solidFill>
              </a:rPr>
              <a:t>Спробувати змінити розширення файлу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E2E8F0"/>
                </a:solidFill>
              </a:rPr>
              <a:t>Base64, hex, ROT13 на підозрілі рядки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1031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2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Типові помилки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26517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Пропуск метаданих — EXIF часто містить підказки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Ігнорування strings — паролі, URL, ключі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Один інструмент — різні tools бачать різне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Пропуск alternate data — ADS в NTFS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Неуважність до часових зон — UTC vs локальний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5120640"/>
            <a:ext cx="5029200" cy="822960"/>
          </a:xfrm>
          <a:prstGeom prst="roundRect">
            <a:avLst>
              <a:gd name="adj" fmla="val 13333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5166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Правило: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якщо щось виглядає не так — це підказка!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Шпаргалка: Essential Commands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Аналіз файлів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*                   # тип файлів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exiftool file            # метадані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strings -n 8 file        # рядки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xxd file | head -20      # hex-дамп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binwalk -e file          # витягти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foremost -i file -o out/ # карвінг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0058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Пам'ять (Volatility 3)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14173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windows.pslist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windows.pstree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windows.netscan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windows.cmdline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windows.filescan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 -f mem.raw windows.malfind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Мережа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tshark -r file.pcap -Y "http"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tshark -r file.pcap -z io,phs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tshark --export-objects http,out/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tcpdump -r file.pcap -A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ngrep -I file.pcap "flag"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379476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</a:rPr>
              <a:t>Стеганографія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42062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steghide extract -sf img.jpg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zsteg -a img.png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stegseek img.jpg wordlist.txt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pngcheck -v img.png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Aperi'Solve: aperisolve.com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CyberChef: gchq.github.io/CyberChef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💪  Практика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Тренувальні платформи та ресурси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Тренувальні платформи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</a:rPr>
              <a:t>picoCTF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Рівень: початковий-середній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Безкоштовний, з підказками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Окрема категорія Forensics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Ідеальний для старту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9120" y="10058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097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CyberDefenders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Рівень: середній-просунутий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Blue Team Labs: DFIR-кейси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Реальні дампи пам'яті та дисків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Детальні звіти-відповіді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10058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097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BTLO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1040" y="146304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Blue Team Labs Online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Forensics + Incident Response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Безкоштовні та PRO-завдання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Середній-просунутий рівень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2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033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Hack The Box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Forensics Challenges + Sherlocks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Реалістичні DFIR-сценарії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Активна спільнота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Середній-експерт рівень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6118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7033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SANS NetWars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06908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DFIR NetWars Tournament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Професійна підготовка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Комерційний, але є гранти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Просунутий рівень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36118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7033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Інші ресурси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406908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MemLabs — Volatility практика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DFRWS — форензичні челенджі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CTFtime.org — розклад CTF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root-me.org — форензика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Ресурси для поглиблення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Книги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"The Art of Memory Forensics" — M. Ligh et al.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"File System Forensic Analysis" — B. Carrier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"Network Forensics" — S. Davidoff, J. Ham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"Practical Malware Analysis" — M. Sikorski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"Digital Forensics with Kali Linux" — S. Parasram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94760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Сертифікація</a:t>
                      </a:r>
                      <a:endParaRPr lang="en-US" sz="12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</a:rPr>
                        <a:t>Фокус</a:t>
                      </a:r>
                      <a:endParaRPr lang="en-US" sz="12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GCFE (GIAC)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Windows Forensics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GCFA (GIAC)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Advanced Forensics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CHFI (EC-Council)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Hacking Forensic Investigator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</a:rPr>
                        <a:t>CDFE (IACRB)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Digital Forensics Examiner</a:t>
                      </a:r>
                      <a:endParaRPr lang="en-US" sz="1100" dirty="0"/>
                    </a:p>
                  </a:txBody>
                  <a:tcPr marL="76200" marR="76200" marT="38100" marB="381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0058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</a:rPr>
              <a:t>YouTube-канали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46520" y="14630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13Cubed — DFIR, Volatility, Autopsy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DFIR Science — наукові методи форензики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John Hammond — CTF write-ups, форензика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NetworkChuck — Wireshark, мережі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IppSec — HTB walkthroughs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379476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Блоги та спільноти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46520" y="42519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SANS DFIR Blog — dfir.sans.org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This Week in 4n6 — щотижневий дайджест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AboutDFIR.com — каталог інструментів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ForensicFocus — спільнота форензиків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r/digitalforensics — Reddit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Підсумки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file + strings + exiftool — перші три команди для будь-якого завдання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Volatility 3 — стандарт аналізу пам'яті, знати ключові плагіни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Wireshark + tshark — мережевий аналіз з правильними фільтрами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Стеганографія — перевіряти LSB, метадані, аудіо-спектрограми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0058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Windows Event IDs — знати ключові коди (4624, 4688, 7045)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1691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Таймлайн — Plaso/log2timeline для відтворення хронології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63640" y="2377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CyberChef — універсальний інструмент декодування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3063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Практика — picoCTF, CyberDefenders, HTB для тренування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148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DE80"/>
                </a:solidFill>
              </a:rPr>
              <a:t>Систематичність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Методологія &gt; хаотичний пошук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402336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41148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Різноманітність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0" y="4617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Кілька інструментів &gt; один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4023360"/>
            <a:ext cx="3520440" cy="1005840"/>
          </a:xfrm>
          <a:prstGeom prst="roundRect">
            <a:avLst>
              <a:gd name="adj" fmla="val 10909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41148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Регулярність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38160" y="4617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Постійна практика = зростання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</a:rPr>
              <a:t>Дякую за увагу!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Черепов О.  •  Кафедра ТЕІБ, УжНУ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Запитання?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Forensics: Практичний підхід до CTF у сфері цифрової форензики</dc:title>
  <dc:subject>Кафедра ТЕІБ, УжНУ</dc:subject>
  <dc:creator>Черепов О.</dc:creator>
  <cp:lastModifiedBy>Черепов О.</cp:lastModifiedBy>
  <cp:revision>1</cp:revision>
  <dcterms:created xsi:type="dcterms:W3CDTF">2026-03-13T10:59:34Z</dcterms:created>
  <dcterms:modified xsi:type="dcterms:W3CDTF">2026-03-13T10:59:34Z</dcterms:modified>
</cp:coreProperties>
</file>