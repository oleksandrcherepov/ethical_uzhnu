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7" d="100"/>
          <a:sy n="87" d="100"/>
        </p:scale>
        <p:origin x="49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786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0C19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38BDF8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36576"/>
          </a:xfrm>
          <a:prstGeom prst="rect">
            <a:avLst/>
          </a:prstGeom>
          <a:solidFill>
            <a:srgbClr val="F87171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10360152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38BDF8"/>
                </a:solidFill>
              </a:rPr>
              <a:t>Практико-орієнтована модель</a:t>
            </a:r>
            <a:endParaRPr lang="en-US" sz="3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38BDF8"/>
                </a:solidFill>
              </a:rPr>
              <a:t>підготовки спеціалістів</a:t>
            </a:r>
            <a:endParaRPr lang="en-US" sz="36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3600" b="1" dirty="0">
                <a:solidFill>
                  <a:srgbClr val="38BDF8"/>
                </a:solidFill>
              </a:rPr>
              <a:t>з інформаційної безпеки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43891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94A3B8"/>
                </a:solidFill>
              </a:rPr>
              <a:t>Черепов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r>
              <a:rPr lang="en-US" sz="1600" dirty="0" smtClean="0">
                <a:solidFill>
                  <a:srgbClr val="94A3B8"/>
                </a:solidFill>
              </a:rPr>
              <a:t>О.C.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484632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4A3B8"/>
                </a:solidFill>
              </a:rPr>
              <a:t>Кафедра ТЕІБ, Ужгородський національний університет  • 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8BDF8"/>
                </a:solidFill>
              </a:rPr>
              <a:t>⚠  Проблема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Глобальний дефіцит кадрів у сфері кібербезпеки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Масштаб проблеми (ISC2, 2025)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DF8"/>
                </a:solidFill>
              </a:rPr>
              <a:t>10.2M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Глобальна потреба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29000" y="10972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2900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38BDF8"/>
                </a:solidFill>
              </a:rPr>
              <a:t>5.5M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2900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Наявна робоча сила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0972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2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87171"/>
                </a:solidFill>
              </a:rPr>
              <a:t>4.76M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21792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Дефіцит (+19% YoY)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006840" y="1097280"/>
            <a:ext cx="2560320" cy="1005840"/>
          </a:xfrm>
          <a:prstGeom prst="roundRect">
            <a:avLst>
              <a:gd name="adj" fmla="val 10909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006840" y="118872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BBF24"/>
                </a:solidFill>
              </a:rPr>
              <a:t>88%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9006840" y="1691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Інциденти через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дефіцит навичок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23774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2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7171"/>
                </a:solidFill>
              </a:rPr>
              <a:t>Нестача персоналу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29260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b="1" dirty="0">
                <a:solidFill>
                  <a:srgbClr val="E2E8F0"/>
                </a:solidFill>
              </a:rPr>
              <a:t>67%</a:t>
            </a:r>
            <a:r>
              <a:rPr lang="en-US" sz="1300" dirty="0">
                <a:solidFill>
                  <a:srgbClr val="E2E8F0"/>
                </a:solidFill>
              </a:rPr>
              <a:t> організацій мають нестачу кадрів
</a:t>
            </a:r>
            <a:r>
              <a:rPr lang="en-US" sz="1300" b="1" dirty="0">
                <a:solidFill>
                  <a:srgbClr val="E2E8F0"/>
                </a:solidFill>
              </a:rPr>
              <a:t>48%</a:t>
            </a:r>
            <a:r>
              <a:rPr lang="en-US" sz="1300" dirty="0">
                <a:solidFill>
                  <a:srgbClr val="E2E8F0"/>
                </a:solidFill>
              </a:rPr>
              <a:t> компаній шукають спеціаліста &gt; 6 місяців
Найбільший дефіцит — Азія-Тихоокеанський регіон (3.4M)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309360" y="2377440"/>
            <a:ext cx="5394960" cy="2560320"/>
          </a:xfrm>
          <a:prstGeom prst="roundRect">
            <a:avLst>
              <a:gd name="adj" fmla="val 4286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83680" y="24688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BBF24"/>
                </a:solidFill>
              </a:rPr>
              <a:t>Україна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583680" y="292608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SzPct val="100000"/>
              <a:buChar char="●"/>
            </a:pPr>
            <a:r>
              <a:rPr lang="en-US" sz="1300" b="1" dirty="0">
                <a:solidFill>
                  <a:srgbClr val="E2E8F0"/>
                </a:solidFill>
              </a:rPr>
              <a:t>~2 000</a:t>
            </a:r>
            <a:r>
              <a:rPr lang="en-US" sz="1300" dirty="0">
                <a:solidFill>
                  <a:srgbClr val="E2E8F0"/>
                </a:solidFill>
              </a:rPr>
              <a:t> випускників спец. 125 щороку
</a:t>
            </a:r>
            <a:r>
              <a:rPr lang="en-US" sz="1300" b="1" dirty="0">
                <a:solidFill>
                  <a:srgbClr val="E2E8F0"/>
                </a:solidFill>
              </a:rPr>
              <a:t>47</a:t>
            </a:r>
            <a:r>
              <a:rPr lang="en-US" sz="1300" dirty="0">
                <a:solidFill>
                  <a:srgbClr val="E2E8F0"/>
                </a:solidFill>
              </a:rPr>
              <a:t> ЗВО готують фахівців
</a:t>
            </a:r>
            <a:r>
              <a:rPr lang="en-US" sz="1300" b="1" dirty="0">
                <a:solidFill>
                  <a:srgbClr val="E2E8F0"/>
                </a:solidFill>
              </a:rPr>
              <a:t>21</a:t>
            </a:r>
            <a:r>
              <a:rPr lang="en-US" sz="1300" dirty="0">
                <a:solidFill>
                  <a:srgbClr val="E2E8F0"/>
                </a:solidFill>
              </a:rPr>
              <a:t> професійний стандарт (Держспецзв'язку)
Ключова проблема — якість, не кількість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Джерело: ISC2 Cybersecurity Workforce Study 2025, Fortinet Skills Gap Report 2025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8BDF8"/>
                </a:solidFill>
              </a:rPr>
              <a:t>🎓  Традиційна модель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Чому лекційно-семінарська форма не працює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</a:rPr>
              <a:t>Таксономія Блума: розрив між освітою та практикою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097280"/>
          <a:ext cx="10881360" cy="2715768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</a:rPr>
                        <a:t>Рівень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</a:rPr>
                        <a:t>Традиційний формат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</a:rPr>
                        <a:t>Практико-орієнтований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</a:rPr>
                        <a:t>Запам'ятовування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Лекції, підручники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Лекції + інтерактивні демо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</a:rPr>
                        <a:t>Розуміння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Семінари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Розбір реальних інцидентів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</a:rPr>
                        <a:t>Застосування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Стандартні лабораторні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CTF, Cyber Range, віртуальні лаби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</a:rPr>
                        <a:t>Аналіз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Курсові роботи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Форензика, аналіз малварі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</a:rPr>
                        <a:t>Оцінювання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Іспити, тести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Аудит безпеки реальних систем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E2E8F0"/>
                          </a:solidFill>
                        </a:rPr>
                        <a:t>Створення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Дипломна робота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2E8F0"/>
                          </a:solidFill>
                        </a:rPr>
                        <a:t>Пентест-звіти, захисні рішення</a:t>
                      </a:r>
                      <a:endParaRPr lang="en-US" sz="1300" dirty="0"/>
                    </a:p>
                  </a:txBody>
                  <a:tcPr marL="101600" marR="101600" marT="63500" marB="635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457200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i="1" dirty="0">
                <a:solidFill>
                  <a:srgbClr val="E2E8F0"/>
                </a:solidFill>
              </a:rPr>
              <a:t>«Традиційне навчання охоплює переважно 2 нижні рівні, тоді як професійна діяльність вимагає вищих рівнів когнітивної діяльності.»</a:t>
            </a:r>
            <a:endParaRPr lang="en-US" sz="1300" dirty="0"/>
          </a:p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— IEEE, Optimizing Cyber Security Education, 2020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8BDF8"/>
                </a:solidFill>
              </a:rPr>
              <a:t>🔷  Фреймворки компетенцій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NICE, ECSF, ABCDE — спільна мова освіти та індустрії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Міжнародні рамкові моделі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NICE Framework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NIST SP 800-181 Rev.1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7 категорій, 52 робочі ролі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Tasks, Knowledge, Skills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Основа для NSA CAE, SANS, ISC2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NICE Challenge Project — віртуалізовані задачі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0972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188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DE80"/>
                </a:solidFill>
              </a:rPr>
              <a:t>ECSF (ENISA)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0" y="15544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E8F0"/>
                </a:solidFill>
              </a:rPr>
              <a:t>European Cybersecurity Skills Framework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92024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12 професійних ролей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Workplace-driven + Learning-driven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Гармонізація освіти по ЄС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Релевантний для євроінтеграції України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097280"/>
            <a:ext cx="3520440" cy="4114800"/>
          </a:xfrm>
          <a:prstGeom prst="roundRect">
            <a:avLst>
              <a:gd name="adj" fmla="val 3117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0" y="11887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78BFA"/>
                </a:solidFill>
              </a:rPr>
              <a:t>ABCDE (ACM)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321040" y="155448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E8F0"/>
                </a:solidFill>
              </a:rPr>
              <a:t>Competency Model, 2023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0" y="1920240"/>
            <a:ext cx="3154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A — Actor (ролі)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B — Behaviour (задачі)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C — Context (середовище)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D — Degree (складність)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E — Employability (готовність)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8BDF8"/>
                </a:solidFill>
              </a:rPr>
              <a:t>🌐  Міжнародний досвід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Практики 9 країн та організацій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</a:rPr>
              <a:t>США та Ізраїль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8BDF8"/>
                </a:solidFill>
              </a:rPr>
              <a:t>🇺🇸  США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NCAE-C: 429 акредитованих ЗВО (NSA)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CyberCorps SFS: стипендія за держслужбу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SANS CyberStart: гейміфіковане навчання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Модель: освіта + сертифікація + служба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09728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BBF24"/>
                </a:solidFill>
              </a:rPr>
              <a:t>🇮🇱  Ізраїль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446520" y="17373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Unit 8200: відбір з 16 років (математика, криптографія)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Реальні кібероперації з 18 років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90% high-tech сектору — з армії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1/3 CTO кіберстартапів — з Unit 8200</a:t>
            </a:r>
            <a:endParaRPr lang="en-US" sz="13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Модель: рання ідентифікація + бойовий досвід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Великобританія та Естонія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2D1515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87171"/>
                </a:solidFill>
              </a:rPr>
              <a:t>🇬🇧  Великобританія — CyberFirst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260 000 студентів у 2 500 школах (з 2016)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Стипендія £4 000/рік за бакалаврат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Літня академія (1-й рік) + стажування (2-й рік)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180+ індустріальних партнерів + GCHQ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63640" y="109728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DE80"/>
                </a:solidFill>
              </a:rPr>
              <a:t>🇪🇪  Естонія — від дитсадка до НАТО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46520" y="17373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Мета: 10 000 кіберталантів за 10 років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CR14: кіберполігон (NATO Innovation Award)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CCDCOE (Tallinn): 39 країн, координація навчань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Locked Shields: 38 країн, 5 500 систем, live-fire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38BDF8"/>
                </a:solidFill>
              </a:rPr>
              <a:t>Сінгапур, Південна Корея, Австралія, ЄС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🇸🇬  Сінгапур (CSA)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$50M — план Cyber TIG на 3 роки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SG Cyber Associates — навчання не-кіберспеціалістів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10 000 місць ISC2 сертифікації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63640" y="105156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46520" y="10972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</a:rPr>
              <a:t>🇰🇷  Південна Корея (KISA)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46520" y="155448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K-Shield — підготовка топових кіберексперків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Кейс-орієнтоване навчання (MOU з ISC2)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🇦🇺  Австралія (ASD)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4160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ASD Cyber Skills Framework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CyberEXP — інтерактивні симуляції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200 партнерів у Joint Cyber Centres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63640" y="3657600"/>
            <a:ext cx="5394960" cy="2377440"/>
          </a:xfrm>
          <a:prstGeom prst="roundRect">
            <a:avLst>
              <a:gd name="adj" fmla="val 4615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</a:rPr>
              <a:t>🇪🇺  ЄС — ECSC (ENISA)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46520" y="4160520"/>
            <a:ext cx="50292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CTF для молоді 14–25 років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Навички → 80% вакансій з кібербезпеки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International Cybersecurity Challenge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Ключові уроки міжнародного досвіду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🎯  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280160" y="1188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</a:rPr>
              <a:t>Рання ідентифікація</a:t>
            </a:r>
            <a:r>
              <a:rPr lang="en-US" sz="1500" dirty="0">
                <a:solidFill>
                  <a:srgbClr val="E2E8F0"/>
                </a:solidFill>
              </a:rPr>
              <a:t> — більшість починають зі школи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💰  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280160" y="19659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BBF24"/>
                </a:solidFill>
              </a:rPr>
              <a:t>Державне фінансування</a:t>
            </a:r>
            <a:r>
              <a:rPr lang="en-US" sz="1500" dirty="0">
                <a:solidFill>
                  <a:srgbClr val="E2E8F0"/>
                </a:solidFill>
              </a:rPr>
              <a:t> — є критичним фактором успіху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🤝  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28016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</a:rPr>
              <a:t>Партнерство з індустрією</a:t>
            </a:r>
            <a:r>
              <a:rPr lang="en-US" sz="1500" dirty="0">
                <a:solidFill>
                  <a:srgbClr val="E2E8F0"/>
                </a:solidFill>
              </a:rPr>
              <a:t> — стажування обов'язкові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520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📚  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280160" y="352044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78BFA"/>
                </a:solidFill>
              </a:rPr>
              <a:t>Стандартизація</a:t>
            </a:r>
            <a:r>
              <a:rPr lang="en-US" sz="1500" dirty="0">
                <a:solidFill>
                  <a:srgbClr val="E2E8F0"/>
                </a:solidFill>
              </a:rPr>
              <a:t> — через фреймворки (NICE, ECSF)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42976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🏆  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280160" y="42976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87171"/>
                </a:solidFill>
              </a:rPr>
              <a:t>Змагальний елемент</a:t>
            </a:r>
            <a:r>
              <a:rPr lang="en-US" sz="1500" dirty="0">
                <a:solidFill>
                  <a:srgbClr val="E2E8F0"/>
                </a:solidFill>
              </a:rPr>
              <a:t> — CTF як мотиватор та відбір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50749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🔄  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80160" y="5074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DE80"/>
                </a:solidFill>
              </a:rPr>
              <a:t>Наскрізність</a:t>
            </a:r>
            <a:r>
              <a:rPr lang="en-US" sz="1500" dirty="0">
                <a:solidFill>
                  <a:srgbClr val="E2E8F0"/>
                </a:solidFill>
              </a:rPr>
              <a:t> — від школи до професійного розвитку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8BDF8"/>
                </a:solidFill>
              </a:rPr>
              <a:t>🧰  Інструменти моделі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Cyber Range, CTF, проєктне навчання, сертифікація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Кіберполігони та CTF-змагання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🖥  Cyber Range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7373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Віртуалізоване середовище реальної інфраструктури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Red Team / Blue Team сценарії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Масштабованість та відтворюваність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Платформи: TryHackMe, Hack The Box, CybExer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42976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2E8F0"/>
                </a:solidFill>
              </a:rPr>
              <a:t>«Ефективні на всіх рівнях освіти — від школи до магістратури»</a:t>
            </a:r>
            <a:endParaRPr lang="en-US" sz="1200" dirty="0"/>
          </a:p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— Springer, 2025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263640" y="1097280"/>
            <a:ext cx="5394960" cy="4572000"/>
          </a:xfrm>
          <a:prstGeom prst="roundRect">
            <a:avLst>
              <a:gd name="adj" fmla="val 2400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1887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DE80"/>
                </a:solidFill>
              </a:rPr>
              <a:t>🏁  CTF (Capture The Flag)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46520" y="173736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Підвищують мотивацію більше ніж традиційні вправи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Збільшують впевненість та практичні навички</a:t>
            </a:r>
            <a:endParaRPr lang="en-US" sz="1300" dirty="0"/>
          </a:p>
          <a:p>
            <a:pPr marL="342900" indent="-342900">
              <a:lnSpc>
                <a:spcPct val="17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Storytelling-інтеграція покращує результати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3749040"/>
            <a:ext cx="5029200" cy="1188720"/>
          </a:xfrm>
          <a:prstGeom prst="roundRect">
            <a:avLst>
              <a:gd name="adj" fmla="val 9231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9400" y="3840480"/>
            <a:ext cx="4663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BF24"/>
                </a:solidFill>
              </a:rPr>
              <a:t>⚠ Обмеження: </a:t>
            </a:r>
            <a:r>
              <a:rPr lang="en-US" sz="1200" dirty="0">
                <a:solidFill>
                  <a:srgbClr val="E2E8F0"/>
                </a:solidFill>
              </a:rPr>
              <a:t>CTF не замінюють глибокого теоретичного навчання — потрібна інтеграція обох підходів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Джерело: Schafeitel-Tähtinen et al., Wiley 2025 (Фінляндія vs Чехія)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</a:rPr>
              <a:t>Стажування та сертифікація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</a:rPr>
              <a:t>💼  Професійна інтеграція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8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Студентські кібербригади (КУБГ) — робота на об'єктах КІ</a:t>
            </a:r>
            <a:endParaRPr lang="en-US" sz="1300" dirty="0"/>
          </a:p>
          <a:p>
            <a:pPr marL="342900" indent="-342900">
              <a:lnSpc>
                <a:spcPct val="18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re/start in cyber (Мінцифри) — безкоштовне навчання</a:t>
            </a:r>
            <a:endParaRPr lang="en-US" sz="1300" dirty="0"/>
          </a:p>
          <a:p>
            <a:pPr marL="342900" indent="-342900">
              <a:lnSpc>
                <a:spcPct val="18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Bug Bounty — легальний пошук вразливостей</a:t>
            </a:r>
            <a:endParaRPr lang="en-US" sz="1300" dirty="0"/>
          </a:p>
          <a:p>
            <a:pPr marL="342900" indent="-342900">
              <a:lnSpc>
                <a:spcPct val="180000"/>
              </a:lnSpc>
              <a:buSzPct val="100000"/>
              <a:buChar char="●"/>
            </a:pPr>
            <a:r>
              <a:rPr lang="en-US" sz="1300" dirty="0">
                <a:solidFill>
                  <a:srgbClr val="E2E8F0"/>
                </a:solidFill>
              </a:rPr>
              <a:t>SOC-стажування — Security Operations Center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263640" y="109728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4ADE80"/>
                </a:solidFill>
              </a:rPr>
              <a:t>📜  Сертифікації у навчальному плані</a:t>
            </a:r>
            <a:endParaRPr lang="en-US" sz="1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1691640"/>
          <a:ext cx="539496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</a:rPr>
                        <a:t>Сертифікація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</a:rPr>
                        <a:t>Рівень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38BDF8"/>
                          </a:solidFill>
                        </a:rPr>
                        <a:t>Практика</a:t>
                      </a:r>
                      <a:endParaRPr lang="en-US" sz="13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CompTIA Security+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4ADE80"/>
                          </a:solidFill>
                        </a:rPr>
                        <a:t>Базовий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Теоретичний іспит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CEH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Середній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Практичний іспит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OSCP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87171"/>
                          </a:solidFill>
                        </a:rPr>
                        <a:t>Просунутий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24-год практика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BTL1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Середній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E2E8F0"/>
                          </a:solidFill>
                        </a:rPr>
                        <a:t>Практичний іспит</a:t>
                      </a:r>
                      <a:endParaRPr lang="en-US" sz="1200" dirty="0"/>
                    </a:p>
                  </a:txBody>
                  <a:tcPr marL="76200" marR="76200" marT="50800" marB="50800"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9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0116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38BDF8"/>
                </a:solidFill>
              </a:rPr>
              <a:t>📦  Архітектура моделі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3291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94A3B8"/>
                </a:solidFill>
              </a:rPr>
              <a:t>Триблокова структура 30 / 50 / 20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Запропонована архітектура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</a:rPr>
              <a:t>Теоретичне ядро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1508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38BDF8"/>
                </a:solidFill>
              </a:rPr>
              <a:t>30%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Криптографія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Мережеві технології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Безпека ОС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Правові аспекти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Стандарти (OWASP, NIST)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0058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0" y="1097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DE80"/>
                </a:solidFill>
              </a:rPr>
              <a:t>Практичне ядро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389120" y="1508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4ADE80"/>
                </a:solidFill>
              </a:rPr>
              <a:t>50%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0" y="214884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Cyber Range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CTF-змагання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Red/Blue Team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Цифрова форензика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Пентест-проєкти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0" y="1005840"/>
            <a:ext cx="3520440" cy="3657600"/>
          </a:xfrm>
          <a:prstGeom prst="roundRect">
            <a:avLst>
              <a:gd name="adj" fmla="val 3117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0" y="10972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</a:rPr>
              <a:t>Професійна інтеграція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38160" y="1508760"/>
            <a:ext cx="3520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</a:rPr>
              <a:t>20%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321040" y="2148840"/>
            <a:ext cx="315468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Стажування на КІ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Кібербригади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Сертифікація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Bug Bounty</a:t>
            </a:r>
            <a:endParaRPr lang="en-US" sz="12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200" dirty="0">
                <a:solidFill>
                  <a:srgbClr val="E2E8F0"/>
                </a:solidFill>
              </a:rPr>
              <a:t>Менторство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93776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Фреймворки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NICE / ECSF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840480" y="4937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8BDF8"/>
                </a:solidFill>
              </a:rPr>
              <a:t>⟷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480560" y="493776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Таксономія Блума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Kolb / ECAC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406640" y="493776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38BDF8"/>
                </a:solidFill>
              </a:rPr>
              <a:t>⟷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046720" y="4937760"/>
            <a:ext cx="2926080" cy="731520"/>
          </a:xfrm>
          <a:prstGeom prst="roundRect">
            <a:avLst>
              <a:gd name="adj" fmla="val 15000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46720" y="493776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Індустрія</a:t>
            </a:r>
            <a:endParaRPr lang="en-US" sz="1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E2E8F0"/>
                </a:solidFill>
              </a:rPr>
              <a:t>Роботодавці + Держава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</a:rPr>
              <a:t>Розподіл за семестрами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0F2A3D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8BDF8"/>
                </a:solidFill>
              </a:rPr>
              <a:t>1–2 семестр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</a:rPr>
              <a:t>Фундамент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Мережі, ОС, програмування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Введення у кібербезпеку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60%</a:t>
            </a:r>
            <a:r>
              <a:rPr lang="en-US" sz="1200" dirty="0">
                <a:solidFill>
                  <a:srgbClr val="E2E8F0"/>
                </a:solidFill>
              </a:rPr>
              <a:t> теорія / </a:t>
            </a:r>
            <a:r>
              <a:rPr lang="en-US" sz="1300" b="1" dirty="0">
                <a:solidFill>
                  <a:srgbClr val="4ADE80"/>
                </a:solidFill>
              </a:rPr>
              <a:t>40%</a:t>
            </a:r>
            <a:r>
              <a:rPr lang="en-US" sz="1200" dirty="0">
                <a:solidFill>
                  <a:srgbClr val="E2E8F0"/>
                </a:solidFill>
              </a:rPr>
              <a:t> практика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520440" y="100584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0F2D1F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0440" y="1097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DE80"/>
                </a:solidFill>
              </a:rPr>
              <a:t>3–4 семестр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520440" y="1463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</a:rPr>
              <a:t>Спеціалізація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0" y="192024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Криптографія, веб-безпека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CTF, віртуальні лаби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CompTIA Security+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520440" y="4937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40%</a:t>
            </a:r>
            <a:r>
              <a:rPr lang="en-US" sz="1200" dirty="0">
                <a:solidFill>
                  <a:srgbClr val="E2E8F0"/>
                </a:solidFill>
              </a:rPr>
              <a:t> теорія / </a:t>
            </a:r>
            <a:r>
              <a:rPr lang="en-US" sz="1300" b="1" dirty="0">
                <a:solidFill>
                  <a:srgbClr val="4ADE80"/>
                </a:solidFill>
              </a:rPr>
              <a:t>60%</a:t>
            </a:r>
            <a:r>
              <a:rPr lang="en-US" sz="1200" dirty="0">
                <a:solidFill>
                  <a:srgbClr val="E2E8F0"/>
                </a:solidFill>
              </a:rPr>
              <a:t> практика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100584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1F1A2D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097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78BFA"/>
                </a:solidFill>
              </a:rPr>
              <a:t>5–6 семестр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1463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</a:rPr>
              <a:t>Поглиблення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37960" y="192024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Пентест, форензика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Cyber Range, проєкти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CEH / OSCP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0" y="4937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8BDF8"/>
                </a:solidFill>
              </a:rPr>
              <a:t>20%</a:t>
            </a:r>
            <a:r>
              <a:rPr lang="en-US" sz="1200" dirty="0">
                <a:solidFill>
                  <a:srgbClr val="E2E8F0"/>
                </a:solidFill>
              </a:rPr>
              <a:t> теорія / </a:t>
            </a:r>
            <a:r>
              <a:rPr lang="en-US" sz="1300" b="1" dirty="0">
                <a:solidFill>
                  <a:srgbClr val="4ADE80"/>
                </a:solidFill>
              </a:rPr>
              <a:t>80%</a:t>
            </a:r>
            <a:r>
              <a:rPr lang="en-US" sz="1200" dirty="0">
                <a:solidFill>
                  <a:srgbClr val="E2E8F0"/>
                </a:solidFill>
              </a:rPr>
              <a:t> практика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281160" y="1005840"/>
            <a:ext cx="2697480" cy="4572000"/>
          </a:xfrm>
          <a:prstGeom prst="roundRect">
            <a:avLst>
              <a:gd name="adj" fmla="val 4068"/>
            </a:avLst>
          </a:prstGeom>
          <a:solidFill>
            <a:srgbClr val="2D2510"/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281160" y="109728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BBF24"/>
                </a:solidFill>
              </a:rPr>
              <a:t>7–8 семестр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281160" y="1463040"/>
            <a:ext cx="2697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E8F0"/>
                </a:solidFill>
              </a:rPr>
              <a:t>Інтеграція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18320" y="1920240"/>
            <a:ext cx="2423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Стажування (SOC, КІ)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Дипломний пентест</a:t>
            </a:r>
            <a:endParaRPr lang="en-US" sz="1100" dirty="0"/>
          </a:p>
          <a:p>
            <a:pPr marL="342900" indent="-342900">
              <a:lnSpc>
                <a:spcPct val="160000"/>
              </a:lnSpc>
              <a:buSzPct val="100000"/>
              <a:buChar char="●"/>
            </a:pPr>
            <a:r>
              <a:rPr lang="en-US" sz="1100" dirty="0">
                <a:solidFill>
                  <a:srgbClr val="E2E8F0"/>
                </a:solidFill>
              </a:rPr>
              <a:t>Кібербригади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81160" y="49377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DE80"/>
                </a:solidFill>
              </a:rPr>
              <a:t>100%</a:t>
            </a:r>
            <a:r>
              <a:rPr lang="en-US" sz="1200" dirty="0">
                <a:solidFill>
                  <a:srgbClr val="E2E8F0"/>
                </a:solidFill>
              </a:rPr>
              <a:t> практика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468880"/>
            <a:ext cx="103601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8BDF8"/>
                </a:solidFill>
              </a:rPr>
              <a:t>🎯  Висновки</a:t>
            </a:r>
            <a:endParaRPr lang="en-US" sz="4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74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38BDF8"/>
                </a:solidFill>
              </a:rPr>
              <a:t>Ключові висновки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E2E8F0"/>
                </a:solidFill>
              </a:rPr>
              <a:t>Дефіцит </a:t>
            </a:r>
            <a:r>
              <a:rPr lang="en-US" sz="1500" b="1" dirty="0">
                <a:solidFill>
                  <a:srgbClr val="F87171"/>
                </a:solidFill>
              </a:rPr>
              <a:t>4.76M</a:t>
            </a:r>
            <a:r>
              <a:rPr lang="en-US" sz="1500" dirty="0">
                <a:solidFill>
                  <a:srgbClr val="E2E8F0"/>
                </a:solidFill>
              </a:rPr>
              <a:t> фахівців — це проблема </a:t>
            </a:r>
            <a:r>
              <a:rPr lang="en-US" sz="1500" b="1" dirty="0">
                <a:solidFill>
                  <a:srgbClr val="38BDF8"/>
                </a:solidFill>
              </a:rPr>
              <a:t>якості підготовки</a:t>
            </a:r>
            <a:r>
              <a:rPr lang="en-US" sz="1500" dirty="0">
                <a:solidFill>
                  <a:srgbClr val="E2E8F0"/>
                </a:solidFill>
              </a:rPr>
              <a:t>, не лише кількості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E2E8F0"/>
                </a:solidFill>
              </a:rPr>
              <a:t>Міжнародні фреймворки (</a:t>
            </a:r>
            <a:r>
              <a:rPr lang="en-US" sz="1500" b="1" dirty="0">
                <a:solidFill>
                  <a:srgbClr val="38BDF8"/>
                </a:solidFill>
              </a:rPr>
              <a:t>NICE, ECSF</a:t>
            </a:r>
            <a:r>
              <a:rPr lang="en-US" sz="1500" dirty="0">
                <a:solidFill>
                  <a:srgbClr val="E2E8F0"/>
                </a:solidFill>
              </a:rPr>
              <a:t>) дають спільну мову для побудови програм на основі </a:t>
            </a:r>
            <a:r>
              <a:rPr lang="en-US" sz="1500" b="1" dirty="0">
                <a:solidFill>
                  <a:srgbClr val="E2E8F0"/>
                </a:solidFill>
              </a:rPr>
              <a:t>робочих ролей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E2E8F0"/>
                </a:solidFill>
              </a:rPr>
              <a:t>CTF та Cyber Range підвищують </a:t>
            </a:r>
            <a:r>
              <a:rPr lang="en-US" sz="1500" b="1" dirty="0">
                <a:solidFill>
                  <a:srgbClr val="4ADE80"/>
                </a:solidFill>
              </a:rPr>
              <a:t>мотивацію та навички</a:t>
            </a:r>
            <a:r>
              <a:rPr lang="en-US" sz="1500" dirty="0">
                <a:solidFill>
                  <a:srgbClr val="E2E8F0"/>
                </a:solidFill>
              </a:rPr>
              <a:t>, але мають доповнюватися теорією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5661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E2E8F0"/>
                </a:solidFill>
              </a:rPr>
              <a:t>Оптимальне співвідношення: </a:t>
            </a:r>
            <a:r>
              <a:rPr lang="en-US" sz="1500" b="1" dirty="0">
                <a:solidFill>
                  <a:srgbClr val="38BDF8"/>
                </a:solidFill>
              </a:rPr>
              <a:t>30% теорія / 50% практика / 20% професійна інтеграція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3891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4396154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●"/>
            </a:pPr>
            <a:r>
              <a:rPr lang="en-US" sz="1500" dirty="0">
                <a:solidFill>
                  <a:srgbClr val="E2E8F0"/>
                </a:solidFill>
              </a:rPr>
              <a:t>Ключ до успіху — </a:t>
            </a:r>
            <a:r>
              <a:rPr lang="en-US" sz="1500" b="1" dirty="0">
                <a:solidFill>
                  <a:srgbClr val="FBBF24"/>
                </a:solidFill>
              </a:rPr>
              <a:t>партнерство ЗВО + Індустрія + Держава</a:t>
            </a:r>
            <a:r>
              <a:rPr lang="en-US" sz="1500" dirty="0">
                <a:solidFill>
                  <a:srgbClr val="E2E8F0"/>
                </a:solidFill>
              </a:rPr>
              <a:t> (трикутник знань)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8BDF8"/>
                </a:solidFill>
              </a:rPr>
              <a:t>Дякую за увагу!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34747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E2E8F0"/>
                </a:solidFill>
              </a:rPr>
              <a:t>Черепов О.  •  Кафедра ТЕІБ, УжНУ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14400" y="4389120"/>
            <a:ext cx="103601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Запитання?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1014</Words>
  <Application>Microsoft Office PowerPoint</Application>
  <PresentationFormat>Widescreen</PresentationFormat>
  <Paragraphs>249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Практико-орієнтована модель підготовки спеціалістів з ІБ</dc:title>
  <dc:subject>Кафедра ТЕІБ, УжНУ</dc:subject>
  <dc:creator>Черепов О.</dc:creator>
  <cp:lastModifiedBy>Oleksandr Cherepov</cp:lastModifiedBy>
  <cp:revision>2</cp:revision>
  <dcterms:created xsi:type="dcterms:W3CDTF">2026-02-26T12:13:08Z</dcterms:created>
  <dcterms:modified xsi:type="dcterms:W3CDTF">2026-02-26T12:16:39Z</dcterms:modified>
</cp:coreProperties>
</file>